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36" r:id="rId6"/>
    <p:sldId id="339" r:id="rId7"/>
    <p:sldId id="340" r:id="rId8"/>
    <p:sldId id="341" r:id="rId9"/>
    <p:sldId id="342" r:id="rId10"/>
    <p:sldId id="348" r:id="rId11"/>
    <p:sldId id="349" r:id="rId12"/>
    <p:sldId id="350" r:id="rId13"/>
    <p:sldId id="351" r:id="rId14"/>
    <p:sldId id="352" r:id="rId15"/>
    <p:sldId id="353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4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Internet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400" dirty="0"/>
              <a:t>- Saharsha Bajracharya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2340" y="1714500"/>
            <a:ext cx="8324089" cy="3851148"/>
          </a:xfrm>
        </p:spPr>
        <p:txBody>
          <a:bodyPr>
            <a:noAutofit/>
          </a:bodyPr>
          <a:lstStyle/>
          <a:p>
            <a:r>
              <a:rPr lang="en-US" sz="1800" dirty="0"/>
              <a:t>Introduction</a:t>
            </a:r>
          </a:p>
          <a:p>
            <a:r>
              <a:rPr lang="en-US" sz="1800" dirty="0"/>
              <a:t>History of internet </a:t>
            </a:r>
          </a:p>
          <a:p>
            <a:r>
              <a:rPr lang="en-US" sz="1800" dirty="0"/>
              <a:t>Working of Internet</a:t>
            </a:r>
          </a:p>
          <a:p>
            <a:r>
              <a:rPr lang="en-US" sz="1800" dirty="0"/>
              <a:t>Infrastructure</a:t>
            </a:r>
          </a:p>
          <a:p>
            <a:r>
              <a:rPr lang="en-US" sz="1800" dirty="0"/>
              <a:t>Packet switching</a:t>
            </a:r>
          </a:p>
          <a:p>
            <a:r>
              <a:rPr lang="en-US" sz="1800" dirty="0"/>
              <a:t>Circuit switching </a:t>
            </a:r>
          </a:p>
          <a:p>
            <a:r>
              <a:rPr lang="en-US" sz="1800" dirty="0"/>
              <a:t>Multiplexing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ZA" dirty="0"/>
              <a:t>What IS Internet?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 Internet is a global system that connects computers and devices worldwide.</a:t>
            </a:r>
          </a:p>
          <a:p>
            <a:pPr fontAlgn="base"/>
            <a:r>
              <a:rPr lang="en-US" dirty="0"/>
              <a:t>Enable communication, information sharing, and access to digital services.</a:t>
            </a:r>
          </a:p>
          <a:p>
            <a:pPr fontAlgn="base"/>
            <a:r>
              <a:rPr lang="en-US" dirty="0"/>
              <a:t>Operates using standard communication protocols.</a:t>
            </a:r>
          </a:p>
          <a:p>
            <a:pPr fontAlgn="base"/>
            <a:r>
              <a:rPr lang="en-US" dirty="0"/>
              <a:t>Forms the backbone of modern digital life.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History of internet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beginning (1950s – 1960s)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b="1" dirty="0"/>
              <a:t>1960s</a:t>
            </a:r>
            <a:r>
              <a:rPr lang="en-US" dirty="0"/>
              <a:t>, the U.S. Department of Defense started a project called </a:t>
            </a:r>
            <a:r>
              <a:rPr lang="en-US" b="1" dirty="0"/>
              <a:t>ARPANET</a:t>
            </a:r>
            <a:r>
              <a:rPr lang="en-US" dirty="0"/>
              <a:t>.</a:t>
            </a:r>
          </a:p>
          <a:p>
            <a:r>
              <a:rPr lang="en-US" dirty="0"/>
              <a:t>The goal was to create a communication network that could still work even if part of it was damaged.</a:t>
            </a:r>
          </a:p>
          <a:p>
            <a:r>
              <a:rPr lang="en-US" dirty="0"/>
              <a:t>In 1969 </a:t>
            </a:r>
            <a:r>
              <a:rPr lang="en-US" b="1" dirty="0"/>
              <a:t>ARPANET</a:t>
            </a:r>
            <a:r>
              <a:rPr lang="en-US" dirty="0"/>
              <a:t> connected </a:t>
            </a:r>
            <a:r>
              <a:rPr lang="en-US" b="1" dirty="0"/>
              <a:t>four universities </a:t>
            </a:r>
            <a:r>
              <a:rPr lang="en-US" dirty="0"/>
              <a:t>in the USA</a:t>
            </a:r>
            <a:r>
              <a:rPr lang="en-US" b="1" dirty="0"/>
              <a:t>. </a:t>
            </a:r>
            <a:r>
              <a:rPr lang="en-US" dirty="0"/>
              <a:t>(University of California, Stanford Research Institute, University of California, Santa Barbara, University of Utah).</a:t>
            </a:r>
          </a:p>
          <a:p>
            <a:r>
              <a:rPr lang="en-US" dirty="0"/>
              <a:t>The </a:t>
            </a:r>
            <a:r>
              <a:rPr lang="en-US" b="1" dirty="0"/>
              <a:t>first message</a:t>
            </a:r>
            <a:r>
              <a:rPr lang="en-US" dirty="0"/>
              <a:t> sent over ARPANET was from </a:t>
            </a:r>
            <a:r>
              <a:rPr lang="en-US" b="1" dirty="0"/>
              <a:t>UCLA to SRI</a:t>
            </a:r>
            <a:r>
              <a:rPr lang="en-US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of internet (1970s – 1980s)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1971:</a:t>
            </a:r>
            <a:r>
              <a:rPr lang="en-US" dirty="0"/>
              <a:t> </a:t>
            </a:r>
            <a:r>
              <a:rPr lang="en-US" b="1" dirty="0"/>
              <a:t>Email </a:t>
            </a:r>
            <a:r>
              <a:rPr lang="en-US" dirty="0"/>
              <a:t>was invented by </a:t>
            </a:r>
            <a:r>
              <a:rPr lang="en-US" b="1" dirty="0"/>
              <a:t>Ray Tomlinson. </a:t>
            </a:r>
            <a:endParaRPr lang="en-US" dirty="0"/>
          </a:p>
          <a:p>
            <a:r>
              <a:rPr lang="en-US" b="1" dirty="0"/>
              <a:t>1978:  </a:t>
            </a:r>
            <a:r>
              <a:rPr lang="en-US" dirty="0"/>
              <a:t>Researchers developed</a:t>
            </a:r>
            <a:r>
              <a:rPr lang="en-US" b="1" dirty="0"/>
              <a:t> TCP/IP Protocol.</a:t>
            </a:r>
          </a:p>
          <a:p>
            <a:r>
              <a:rPr lang="en-US" b="1" dirty="0"/>
              <a:t>1983</a:t>
            </a:r>
            <a:r>
              <a:rPr lang="en-US" dirty="0"/>
              <a:t>: TCP/IP became the standard protocol for ARPANET.</a:t>
            </a:r>
          </a:p>
          <a:p>
            <a:r>
              <a:rPr lang="en-US" b="1" dirty="0"/>
              <a:t>1984: </a:t>
            </a:r>
            <a:r>
              <a:rPr lang="en-US" dirty="0"/>
              <a:t>The </a:t>
            </a:r>
            <a:r>
              <a:rPr lang="en-US" b="1" dirty="0"/>
              <a:t>Domain Name System (DNS)</a:t>
            </a:r>
            <a:r>
              <a:rPr lang="en-US" dirty="0"/>
              <a:t> was introduced, creating recognizable addresses such as “.com,” “.org,” and “</a:t>
            </a:r>
            <a:r>
              <a:rPr lang="en-US" dirty="0" err="1"/>
              <a:t>.net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EFA7-4B3E-3389-801B-FE341824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Birth of the World Wide Web (1990s)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47984-1796-3FD1-010A-8B1566FC29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1991</a:t>
            </a:r>
            <a:r>
              <a:rPr lang="en-US" dirty="0"/>
              <a:t>, </a:t>
            </a:r>
            <a:r>
              <a:rPr lang="en-US" b="1" dirty="0"/>
              <a:t>Tim Berners-Lee</a:t>
            </a:r>
            <a:r>
              <a:rPr lang="en-US" dirty="0"/>
              <a:t> invented the </a:t>
            </a:r>
            <a:r>
              <a:rPr lang="en-US" b="1" dirty="0"/>
              <a:t>World Wide Web (WWW)</a:t>
            </a:r>
            <a:r>
              <a:rPr lang="en-US" dirty="0"/>
              <a:t>.</a:t>
            </a:r>
          </a:p>
          <a:p>
            <a:r>
              <a:rPr lang="en-US" dirty="0"/>
              <a:t>He introduced: </a:t>
            </a:r>
            <a:r>
              <a:rPr lang="en-US" b="1" dirty="0"/>
              <a:t>HTML</a:t>
            </a:r>
            <a:r>
              <a:rPr lang="en-US" dirty="0"/>
              <a:t> (web pages), </a:t>
            </a:r>
            <a:r>
              <a:rPr lang="en-US" b="1" dirty="0"/>
              <a:t>HTTP</a:t>
            </a:r>
            <a:r>
              <a:rPr lang="en-US" dirty="0"/>
              <a:t> (data transfer) , </a:t>
            </a:r>
            <a:r>
              <a:rPr lang="en-US" b="1" dirty="0"/>
              <a:t>URLs</a:t>
            </a:r>
            <a:r>
              <a:rPr lang="en-US" dirty="0"/>
              <a:t> (website addresses).</a:t>
            </a:r>
          </a:p>
          <a:p>
            <a:r>
              <a:rPr lang="en-US" b="1" dirty="0"/>
              <a:t>ARPANET Shutdown, </a:t>
            </a:r>
            <a:r>
              <a:rPr lang="en-US" dirty="0"/>
              <a:t>officially passing the torch to the modern Internet.</a:t>
            </a:r>
          </a:p>
          <a:p>
            <a:r>
              <a:rPr lang="en-US" b="1" dirty="0"/>
              <a:t>In 1994,  Amazon</a:t>
            </a:r>
            <a:r>
              <a:rPr lang="en-US" dirty="0"/>
              <a:t> and </a:t>
            </a:r>
            <a:r>
              <a:rPr lang="en-US" b="1" dirty="0"/>
              <a:t>Yahoo!</a:t>
            </a:r>
            <a:r>
              <a:rPr lang="en-US" dirty="0"/>
              <a:t> were founded, symbolizing the rise of e-commerce and online search services.</a:t>
            </a:r>
          </a:p>
          <a:p>
            <a:r>
              <a:rPr lang="en-US" dirty="0"/>
              <a:t>In </a:t>
            </a:r>
            <a:r>
              <a:rPr lang="en-US" b="1" dirty="0"/>
              <a:t>1998, Larry page </a:t>
            </a:r>
            <a:r>
              <a:rPr lang="en-US" dirty="0"/>
              <a:t>and </a:t>
            </a:r>
            <a:r>
              <a:rPr lang="en-US" b="1" dirty="0"/>
              <a:t>Sergey Brin </a:t>
            </a:r>
            <a:r>
              <a:rPr lang="en-US" dirty="0"/>
              <a:t>founded Google.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5AC31-5D12-4D06-1089-167BDB57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71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724A-4C50-EC78-C879-58AB459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Expansion (2000s)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7C16C-45F5-6BA8-681B-35692E696B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Rise of Search engines (Google), Email services, Online shopping (e-commerce)</a:t>
            </a:r>
          </a:p>
          <a:p>
            <a:r>
              <a:rPr lang="en-US" dirty="0"/>
              <a:t>Social media platforms began to appear.</a:t>
            </a:r>
          </a:p>
          <a:p>
            <a:r>
              <a:rPr lang="en-US" dirty="0"/>
              <a:t>Faster connections like </a:t>
            </a:r>
            <a:r>
              <a:rPr lang="en-US" b="1" dirty="0"/>
              <a:t>broadband</a:t>
            </a:r>
            <a:r>
              <a:rPr lang="en-US" dirty="0"/>
              <a:t> replaced dial-up.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77022-5AD5-0B8B-6F3D-2204DA85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30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1CCD-8655-7A72-5B63-57FBED27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&amp; Modern Internet (2010s–Present)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25234-CEF6-5F28-7F23-1EEE84CDAF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Growth of Social media, Video streaming, Cloud computing, Online learning. </a:t>
            </a:r>
          </a:p>
          <a:p>
            <a:r>
              <a:rPr lang="en-US" dirty="0"/>
              <a:t>New technologies like </a:t>
            </a:r>
            <a:r>
              <a:rPr lang="en-US" b="1" dirty="0"/>
              <a:t>AI, IoT, and 5G.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7FA1-802A-01CF-263F-C4D86622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71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AA0F-E5E5-07B6-5E07-B2340859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of Internet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F3478-D793-761E-2E19-03F2FDFAC1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1" y="2058669"/>
            <a:ext cx="10405173" cy="3687763"/>
          </a:xfrm>
        </p:spPr>
        <p:txBody>
          <a:bodyPr/>
          <a:lstStyle/>
          <a:p>
            <a:r>
              <a:rPr lang="en-US" dirty="0"/>
              <a:t>The Internet infrastructure is the physical and logical system that allows data to travel from one device to another across the world.</a:t>
            </a:r>
          </a:p>
          <a:p>
            <a:r>
              <a:rPr lang="en-US" dirty="0"/>
              <a:t>End Devices (Users).</a:t>
            </a:r>
          </a:p>
          <a:p>
            <a:r>
              <a:rPr lang="en-US" dirty="0"/>
              <a:t>Internet Service Providers (ISPs).</a:t>
            </a:r>
          </a:p>
          <a:p>
            <a:r>
              <a:rPr lang="en-US" dirty="0"/>
              <a:t>Transmission Media.</a:t>
            </a:r>
          </a:p>
          <a:p>
            <a:r>
              <a:rPr lang="en-US" dirty="0"/>
              <a:t>Internet Protocols.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5F4DC-D64A-FED6-176F-0E7E1975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071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2941D3-CB48-8C54-C479-B7CB3E6E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>
                <a:latin typeface="+mj-lt"/>
                <a:ea typeface="+mj-ea"/>
                <a:cs typeface="+mj-cs"/>
              </a:rPr>
              <a:t>Working of internet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6F24C4F-3381-4AE1-0AA8-5EA201792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3020" y="2905996"/>
            <a:ext cx="4699820" cy="1046008"/>
          </a:xfrm>
        </p:spPr>
        <p:txBody>
          <a:bodyPr/>
          <a:lstStyle/>
          <a:p>
            <a:r>
              <a:rPr lang="en-US" dirty="0"/>
              <a:t>User → DNS → ISP → Router → Server</a:t>
            </a:r>
            <a:br>
              <a:rPr lang="en-US" dirty="0"/>
            </a:br>
            <a:r>
              <a:rPr lang="en-US" dirty="0" err="1"/>
              <a:t>Server</a:t>
            </a:r>
            <a:r>
              <a:rPr lang="en-US" dirty="0"/>
              <a:t> → Router → ISP → User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85D0C-0E58-FEEC-B7A4-7E039D25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E8D532-D809-C079-7642-8627E33C63FB}"/>
              </a:ext>
            </a:extLst>
          </p:cNvPr>
          <p:cNvSpPr txBox="1">
            <a:spLocks/>
          </p:cNvSpPr>
          <p:nvPr/>
        </p:nvSpPr>
        <p:spPr>
          <a:xfrm>
            <a:off x="899160" y="2026920"/>
            <a:ext cx="3017520" cy="3901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900" dirty="0"/>
              <a:t>User Request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Domain Name System (DNS)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Data Packet Creation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Routing the Packets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Reaching the Server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Server Response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Reassembly of Data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Displaying the Webpage</a:t>
            </a:r>
          </a:p>
          <a:p>
            <a:pPr>
              <a:lnSpc>
                <a:spcPct val="90000"/>
              </a:lnSpc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41454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7A77-0A52-D053-5927-150FDA77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Packet switching, Circuit switching and multiplexing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93BF5-D75B-1FF1-462B-A9D36A5A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7475C2-82C4-1FD0-7C73-28A42A170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75256"/>
              </p:ext>
            </p:extLst>
          </p:nvPr>
        </p:nvGraphicFramePr>
        <p:xfrm>
          <a:off x="911352" y="2064309"/>
          <a:ext cx="10405176" cy="388371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701007">
                  <a:extLst>
                    <a:ext uri="{9D8B030D-6E8A-4147-A177-3AD203B41FA5}">
                      <a16:colId xmlns:a16="http://schemas.microsoft.com/office/drawing/2014/main" val="49746101"/>
                    </a:ext>
                  </a:extLst>
                </a:gridCol>
                <a:gridCol w="2641655">
                  <a:extLst>
                    <a:ext uri="{9D8B030D-6E8A-4147-A177-3AD203B41FA5}">
                      <a16:colId xmlns:a16="http://schemas.microsoft.com/office/drawing/2014/main" val="3278965657"/>
                    </a:ext>
                  </a:extLst>
                </a:gridCol>
                <a:gridCol w="2715252">
                  <a:extLst>
                    <a:ext uri="{9D8B030D-6E8A-4147-A177-3AD203B41FA5}">
                      <a16:colId xmlns:a16="http://schemas.microsoft.com/office/drawing/2014/main" val="1305740378"/>
                    </a:ext>
                  </a:extLst>
                </a:gridCol>
                <a:gridCol w="2347262">
                  <a:extLst>
                    <a:ext uri="{9D8B030D-6E8A-4147-A177-3AD203B41FA5}">
                      <a16:colId xmlns:a16="http://schemas.microsoft.com/office/drawing/2014/main" val="3509552899"/>
                    </a:ext>
                  </a:extLst>
                </a:gridCol>
              </a:tblGrid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Packet Switching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Circuit Switching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Multiplexing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365792"/>
                  </a:ext>
                </a:extLst>
              </a:tr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Data Transmission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Packets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Continuous stream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Shared channel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84019"/>
                  </a:ext>
                </a:extLst>
              </a:tr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Path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Different routes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Fixed route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Same channel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773304"/>
                  </a:ext>
                </a:extLst>
              </a:tr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Connection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No dedicated path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Dedicated path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Shared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581690"/>
                  </a:ext>
                </a:extLst>
              </a:tr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Efficiency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Very High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066167"/>
                  </a:ext>
                </a:extLst>
              </a:tr>
              <a:tr h="647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77775" marR="136750" marT="136750" marB="1367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Internet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Telephone call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Cable TV, Fiber</a:t>
                      </a:r>
                    </a:p>
                  </a:txBody>
                  <a:tcPr marL="177775" marR="136750" marT="136750" marB="1367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984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942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C6CE9-A593-DADC-C995-FB22214162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{A1515131-5212-422A-8C2C-A35A32F25FC4}TFb05bf529-a1dc-42d5-b9d6-8a1e9569dd9caf6e7d0f_win32-c3c9796a48f5</Template>
  <TotalTime>189</TotalTime>
  <Words>518</Words>
  <Application>Microsoft Office PowerPoint</Application>
  <PresentationFormat>Widescreen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Custom</vt:lpstr>
      <vt:lpstr>Internet   - Saharsha Bajracharya</vt:lpstr>
      <vt:lpstr>Agenda </vt:lpstr>
      <vt:lpstr>What IS Internet?</vt:lpstr>
      <vt:lpstr>History of internet</vt:lpstr>
      <vt:lpstr>Early beginning (1950s – 1960s)</vt:lpstr>
      <vt:lpstr>Development of internet (1970s – 1980s)</vt:lpstr>
      <vt:lpstr>Birth of the World Wide Web (1990s)</vt:lpstr>
      <vt:lpstr>Internet Expansion (2000s)</vt:lpstr>
      <vt:lpstr>Mobile &amp; Modern Internet (2010s–Present)</vt:lpstr>
      <vt:lpstr>Infrastructure of Internet </vt:lpstr>
      <vt:lpstr>Working of internet</vt:lpstr>
      <vt:lpstr>Packet switching, Circuit switching and multiplexing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Saharsha Bajracharya</dc:creator>
  <cp:lastModifiedBy>Saharsha Bajracharya</cp:lastModifiedBy>
  <cp:revision>1</cp:revision>
  <dcterms:created xsi:type="dcterms:W3CDTF">2026-01-19T11:50:51Z</dcterms:created>
  <dcterms:modified xsi:type="dcterms:W3CDTF">2026-01-19T15:00:01Z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